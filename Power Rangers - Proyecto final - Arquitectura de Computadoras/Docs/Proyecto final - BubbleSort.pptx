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Urbanist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7DD2D60-CFFE-4035-B687-9B70836050AC}">
  <a:tblStyle styleId="{F7DD2D60-CFFE-4035-B687-9B70836050A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-regular.fntdata"/><Relationship Id="rId11" Type="http://schemas.openxmlformats.org/officeDocument/2006/relationships/slide" Target="slides/slide5.xml"/><Relationship Id="rId22" Type="http://schemas.openxmlformats.org/officeDocument/2006/relationships/font" Target="fonts/Urbanist-italic.fntdata"/><Relationship Id="rId10" Type="http://schemas.openxmlformats.org/officeDocument/2006/relationships/slide" Target="slides/slide4.xml"/><Relationship Id="rId21" Type="http://schemas.openxmlformats.org/officeDocument/2006/relationships/font" Target="fonts/Urbanist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schemas.openxmlformats.org/officeDocument/2006/relationships/font" Target="fonts/Urbanist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11.png"/><Relationship Id="rId6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2.png"/><Relationship Id="rId5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13.png"/><Relationship Id="rId6" Type="http://schemas.openxmlformats.org/officeDocument/2006/relationships/image" Target="../media/image4.png"/><Relationship Id="rId7" Type="http://schemas.openxmlformats.org/officeDocument/2006/relationships/image" Target="../media/image6.png"/><Relationship Id="rId8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9.png"/><Relationship Id="rId8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16.jpg"/><Relationship Id="rId5" Type="http://schemas.openxmlformats.org/officeDocument/2006/relationships/image" Target="../media/image2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38125" y="2266950"/>
            <a:ext cx="11715900" cy="11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Proyecto Final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476250" y="4133850"/>
            <a:ext cx="11239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BubbleSort en ensamblador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 txBox="1"/>
          <p:nvPr/>
        </p:nvSpPr>
        <p:spPr>
          <a:xfrm>
            <a:off x="238125" y="2486025"/>
            <a:ext cx="11715750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Fundamentos del </a:t>
            </a:r>
            <a:r>
              <a:rPr b="1" i="0" lang="en-US" sz="52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Algoritmo</a:t>
            </a:r>
            <a:endParaRPr/>
          </a:p>
        </p:txBody>
      </p:sp>
      <p:sp>
        <p:nvSpPr>
          <p:cNvPr id="93" name="Google Shape;93;p14"/>
          <p:cNvSpPr/>
          <p:nvPr/>
        </p:nvSpPr>
        <p:spPr>
          <a:xfrm>
            <a:off x="5619750" y="3581400"/>
            <a:ext cx="952500" cy="476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476250" y="3914775"/>
            <a:ext cx="11239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Entendiendo la lógica de ordenamiento por burbuja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9" name="Google Shape;9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814512"/>
            <a:ext cx="54292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96025" y="1824037"/>
            <a:ext cx="54102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 txBox="1"/>
          <p:nvPr/>
        </p:nvSpPr>
        <p:spPr>
          <a:xfrm>
            <a:off x="857250" y="2571750"/>
            <a:ext cx="50482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Compara pares de elementos adyacentes en una lista.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857250" y="2981325"/>
            <a:ext cx="50482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Intercambia (swap) los elementos si están en el orden incorrecto.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857250" y="3657600"/>
            <a:ext cx="50482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El proceso se repite hasta que el elemento más grande "burbujea" al final.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857250" y="4333875"/>
            <a:ext cx="50482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Algoritmo iterativo simple ideal para demostraciones de hardware.</a:t>
            </a:r>
            <a:endParaRPr/>
          </a:p>
        </p:txBody>
      </p:sp>
      <p:pic>
        <p:nvPicPr>
          <p:cNvPr descr="image.png" id="106" name="Google Shape;106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6250" y="261461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6250" y="302418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6250" y="370046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6250" y="4376737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476250" y="476250"/>
            <a:ext cx="117157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Lógica del </a:t>
            </a:r>
            <a:r>
              <a:rPr b="1" i="0" lang="en-US" sz="37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Bubble Sort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5" name="Google Shape;11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2159644"/>
            <a:ext cx="5429250" cy="311958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300138"/>
            <a:ext cx="5429250" cy="2838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6"/>
          <p:cNvSpPr txBox="1"/>
          <p:nvPr/>
        </p:nvSpPr>
        <p:spPr>
          <a:xfrm>
            <a:off x="714375" y="2397769"/>
            <a:ext cx="52006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Código MIPS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714375" y="2969275"/>
            <a:ext cx="2808000" cy="24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rgbClr val="DEFF9A"/>
                </a:solidFill>
              </a:rPr>
              <a:t>.data</a:t>
            </a:r>
            <a:endParaRPr sz="1200">
              <a:solidFill>
                <a:srgbClr val="DEFF9A"/>
              </a:solidFill>
            </a:endParaRPr>
          </a:p>
          <a:p>
            <a:pPr indent="0" lvl="0" marL="0" rtl="0" algn="l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rgbClr val="DEFF9A"/>
                </a:solidFill>
              </a:rPr>
              <a:t>    arreglo:    .word 8, 3, 1, 9, 5, 2, 7, 4, 6  </a:t>
            </a:r>
            <a:endParaRPr sz="1200">
              <a:solidFill>
                <a:srgbClr val="DEFF9A"/>
              </a:solidFill>
            </a:endParaRPr>
          </a:p>
          <a:p>
            <a:pPr indent="0" lvl="0" marL="0" rtl="0" algn="l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rgbClr val="DEFF9A"/>
                </a:solidFill>
              </a:rPr>
              <a:t>    tamano:     .word 9  </a:t>
            </a:r>
            <a:endParaRPr sz="1200">
              <a:solidFill>
                <a:srgbClr val="DEFF9A"/>
              </a:solidFill>
            </a:endParaRPr>
          </a:p>
          <a:p>
            <a:pPr indent="0" lvl="0" marL="0" rtl="0" algn="l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rgbClr val="DEFF9A"/>
              </a:solidFill>
            </a:endParaRPr>
          </a:p>
          <a:p>
            <a:pPr indent="0" lvl="0" marL="0" rtl="0" algn="l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rgbClr val="DEFF9A"/>
                </a:solidFill>
              </a:rPr>
              <a:t>.text</a:t>
            </a:r>
            <a:endParaRPr sz="1200">
              <a:solidFill>
                <a:srgbClr val="DEFF9A"/>
              </a:solidFill>
            </a:endParaRPr>
          </a:p>
          <a:p>
            <a:pPr indent="0" lvl="0" marL="0" rtl="0" algn="l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rgbClr val="DEFF9A"/>
                </a:solidFill>
              </a:rPr>
              <a:t>.globl main</a:t>
            </a:r>
            <a:endParaRPr sz="1200">
              <a:solidFill>
                <a:srgbClr val="DEFF9A"/>
              </a:solidFill>
            </a:endParaRPr>
          </a:p>
          <a:p>
            <a:pPr indent="0" lvl="0" marL="0" rtl="0" algn="l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rgbClr val="DEFF9A"/>
              </a:solidFill>
            </a:endParaRPr>
          </a:p>
          <a:p>
            <a:pPr indent="0" lvl="0" marL="0" rtl="0" algn="l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rgbClr val="DEFF9A"/>
                </a:solidFill>
              </a:rPr>
              <a:t>main:</a:t>
            </a:r>
            <a:endParaRPr sz="1200">
              <a:solidFill>
                <a:srgbClr val="DEFF9A"/>
              </a:solidFill>
            </a:endParaRPr>
          </a:p>
          <a:p>
            <a:pPr indent="0" lvl="0" marL="0" rtl="0" algn="l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rgbClr val="DEFF9A"/>
                </a:solidFill>
              </a:rPr>
              <a:t>    addi $s0, $zero, 0     </a:t>
            </a:r>
            <a:endParaRPr sz="1200">
              <a:solidFill>
                <a:srgbClr val="DEFF9A"/>
              </a:solidFill>
            </a:endParaRPr>
          </a:p>
          <a:p>
            <a:pPr indent="0" lvl="0" marL="0" rtl="0" algn="l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rgbClr val="DEFF9A"/>
                </a:solidFill>
              </a:rPr>
              <a:t>    </a:t>
            </a:r>
            <a:endParaRPr sz="1200">
              <a:solidFill>
                <a:srgbClr val="DEFF9A"/>
              </a:solidFill>
            </a:endParaRPr>
          </a:p>
          <a:p>
            <a:pPr indent="0" lvl="0" marL="0" rtl="0" algn="l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rgbClr val="DEFF9A"/>
                </a:solidFill>
              </a:rPr>
              <a:t>    lw $s1, 36($s0)     </a:t>
            </a:r>
            <a:endParaRPr sz="1200">
              <a:solidFill>
                <a:srgbClr val="DEFF9A"/>
              </a:solidFill>
            </a:endParaRPr>
          </a:p>
          <a:p>
            <a:pPr indent="0" lvl="0" marL="0" rtl="0" algn="l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rgbClr val="DEFF9A"/>
                </a:solidFill>
              </a:rPr>
              <a:t>    addi $s2, $s1, -1   </a:t>
            </a:r>
            <a:endParaRPr sz="1200">
              <a:solidFill>
                <a:srgbClr val="DEFF9A"/>
              </a:solidFill>
            </a:endParaRPr>
          </a:p>
          <a:p>
            <a:pPr indent="0" lvl="0" marL="0" rtl="0" algn="l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rgbClr val="DEFF9A"/>
              </a:solidFill>
            </a:endParaRPr>
          </a:p>
          <a:p>
            <a:pPr indent="0" lvl="0" marL="0" rtl="0" algn="l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rgbClr val="DEFF9A"/>
                </a:solidFill>
              </a:rPr>
              <a:t>   </a:t>
            </a:r>
            <a:endParaRPr sz="1200">
              <a:solidFill>
                <a:srgbClr val="DEFF9A"/>
              </a:solidFill>
            </a:endParaRPr>
          </a:p>
        </p:txBody>
      </p:sp>
      <p:sp>
        <p:nvSpPr>
          <p:cNvPr id="120" name="Google Shape;120;p16"/>
          <p:cNvSpPr txBox="1"/>
          <p:nvPr/>
        </p:nvSpPr>
        <p:spPr>
          <a:xfrm>
            <a:off x="3495600" y="5044251"/>
            <a:ext cx="520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Instrucciones Clave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3598300" y="5806413"/>
            <a:ext cx="4572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LW / SW: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Acceso a memoria de datos.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3598300" y="6139463"/>
            <a:ext cx="4572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SLT: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Comparación aritmética (Set Less Than).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3598300" y="6472513"/>
            <a:ext cx="4572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BEQ: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Salto condicional para flujo de control.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3598300" y="5471376"/>
            <a:ext cx="4572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ADDI: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Incremento de punteros.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476250" y="476250"/>
            <a:ext cx="117157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Implementación en </a:t>
            </a:r>
            <a:r>
              <a:rPr b="1" i="0" lang="en-US" sz="37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Ensamblador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3522375" y="2721625"/>
            <a:ext cx="3000000" cy="24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DEFF9A"/>
                </a:solidFill>
              </a:rPr>
              <a:t> addi $t0, $zero, 0   </a:t>
            </a:r>
            <a:endParaRPr sz="1200">
              <a:solidFill>
                <a:srgbClr val="DEFF9A"/>
              </a:solidFill>
            </a:endParaRPr>
          </a:p>
          <a:p>
            <a:pPr indent="0" lvl="0" marL="0" rtl="0" algn="l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DEFF9A"/>
                </a:solidFill>
              </a:rPr>
              <a:t>bucle_externo:</a:t>
            </a:r>
            <a:endParaRPr sz="1200">
              <a:solidFill>
                <a:srgbClr val="DEFF9A"/>
              </a:solidFill>
            </a:endParaRPr>
          </a:p>
          <a:p>
            <a:pPr indent="0" lvl="0" marL="0" rtl="0" algn="l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DEFF9A"/>
                </a:solidFill>
              </a:rPr>
              <a:t>    slt $at, $t0, $s2    </a:t>
            </a:r>
            <a:endParaRPr sz="1200">
              <a:solidFill>
                <a:srgbClr val="DEFF9A"/>
              </a:solidFill>
            </a:endParaRPr>
          </a:p>
          <a:p>
            <a:pPr indent="0" lvl="0" marL="0" rtl="0" algn="l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DEFF9A"/>
                </a:solidFill>
              </a:rPr>
              <a:t>    beq $at, $zero, fin_sort </a:t>
            </a:r>
            <a:endParaRPr sz="1200">
              <a:solidFill>
                <a:srgbClr val="DEFF9A"/>
              </a:solidFill>
            </a:endParaRPr>
          </a:p>
          <a:p>
            <a:pPr indent="0" lvl="0" marL="0" rtl="0" algn="l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DEFF9A"/>
              </a:solidFill>
            </a:endParaRPr>
          </a:p>
          <a:p>
            <a:pPr indent="0" lvl="0" marL="0" rtl="0" algn="l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DEFF9A"/>
                </a:solidFill>
              </a:rPr>
              <a:t>    sub $t2, $s2, $t0    </a:t>
            </a:r>
            <a:endParaRPr sz="1200">
              <a:solidFill>
                <a:srgbClr val="DEFF9A"/>
              </a:solidFill>
            </a:endParaRPr>
          </a:p>
          <a:p>
            <a:pPr indent="0" lvl="0" marL="0" rtl="0" algn="l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DEFF9A"/>
                </a:solidFill>
              </a:rPr>
              <a:t>    addi $t1, $zero, 0   </a:t>
            </a:r>
            <a:endParaRPr sz="1200">
              <a:solidFill>
                <a:srgbClr val="DEFF9A"/>
              </a:solidFill>
            </a:endParaRPr>
          </a:p>
          <a:p>
            <a:pPr indent="0" lvl="0" marL="0" rtl="0" algn="l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DEFF9A"/>
              </a:solidFill>
            </a:endParaRPr>
          </a:p>
          <a:p>
            <a:pPr indent="0" lvl="0" marL="0" rtl="0" algn="l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DEFF9A"/>
                </a:solidFill>
              </a:rPr>
              <a:t>bucle_interno:</a:t>
            </a:r>
            <a:endParaRPr sz="1200">
              <a:solidFill>
                <a:srgbClr val="DEFF9A"/>
              </a:solidFill>
            </a:endParaRPr>
          </a:p>
          <a:p>
            <a:pPr indent="0" lvl="0" marL="0" rtl="0" algn="l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DEFF9A"/>
                </a:solidFill>
              </a:rPr>
              <a:t>    slt $at, $t1, $t2    </a:t>
            </a:r>
            <a:endParaRPr sz="1200">
              <a:solidFill>
                <a:srgbClr val="DEFF9A"/>
              </a:solidFill>
            </a:endParaRPr>
          </a:p>
          <a:p>
            <a:pPr indent="0" lvl="0" marL="0" rtl="0" algn="l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DEFF9A"/>
                </a:solidFill>
              </a:rPr>
              <a:t>    beq $at, $zero, avance_externo </a:t>
            </a:r>
            <a:endParaRPr sz="1200">
              <a:solidFill>
                <a:srgbClr val="DEFF9A"/>
              </a:solidFill>
            </a:endParaRPr>
          </a:p>
          <a:p>
            <a:pPr indent="0" lvl="0" marL="0" rtl="0" algn="l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DEFF9A"/>
              </a:solidFill>
            </a:endParaRPr>
          </a:p>
          <a:p>
            <a:pPr indent="0" lvl="0" marL="0" rtl="0" algn="l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DEFF9A"/>
                </a:solidFill>
              </a:rPr>
              <a:t>    </a:t>
            </a:r>
            <a:endParaRPr sz="1200">
              <a:solidFill>
                <a:srgbClr val="DEFF9A"/>
              </a:solidFill>
            </a:endParaRPr>
          </a:p>
        </p:txBody>
      </p:sp>
      <p:sp>
        <p:nvSpPr>
          <p:cNvPr id="127" name="Google Shape;127;p16"/>
          <p:cNvSpPr txBox="1"/>
          <p:nvPr/>
        </p:nvSpPr>
        <p:spPr>
          <a:xfrm>
            <a:off x="6400000" y="2307125"/>
            <a:ext cx="3000000" cy="31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DEFF9A"/>
                </a:solidFill>
              </a:rPr>
              <a:t> addi $t0, $zero, 0   </a:t>
            </a:r>
            <a:endParaRPr sz="1200">
              <a:solidFill>
                <a:srgbClr val="DEFF9A"/>
              </a:solidFill>
            </a:endParaRPr>
          </a:p>
          <a:p>
            <a:pPr indent="0" lvl="0" marL="0" rtl="0" algn="l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DEFF9A"/>
                </a:solidFill>
              </a:rPr>
              <a:t>bucle_externo:</a:t>
            </a:r>
            <a:endParaRPr sz="1200">
              <a:solidFill>
                <a:srgbClr val="DEFF9A"/>
              </a:solidFill>
            </a:endParaRPr>
          </a:p>
          <a:p>
            <a:pPr indent="0" lvl="0" marL="0" rtl="0" algn="l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DEFF9A"/>
                </a:solidFill>
              </a:rPr>
              <a:t>    slt $at, $t0, $s2    </a:t>
            </a:r>
            <a:endParaRPr sz="1200">
              <a:solidFill>
                <a:srgbClr val="DEFF9A"/>
              </a:solidFill>
            </a:endParaRPr>
          </a:p>
          <a:p>
            <a:pPr indent="0" lvl="0" marL="0" rtl="0" algn="l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DEFF9A"/>
                </a:solidFill>
              </a:rPr>
              <a:t>    beq $at, $zero, fin_sort </a:t>
            </a:r>
            <a:endParaRPr sz="1200">
              <a:solidFill>
                <a:srgbClr val="DEFF9A"/>
              </a:solidFill>
            </a:endParaRPr>
          </a:p>
          <a:p>
            <a:pPr indent="0" lvl="0" marL="0" rtl="0" algn="l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DEFF9A"/>
              </a:solidFill>
            </a:endParaRPr>
          </a:p>
          <a:p>
            <a:pPr indent="0" lvl="0" marL="0" rtl="0" algn="l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DEFF9A"/>
                </a:solidFill>
              </a:rPr>
              <a:t>    sub $t2, $s2, $t0    </a:t>
            </a:r>
            <a:endParaRPr sz="1200">
              <a:solidFill>
                <a:srgbClr val="DEFF9A"/>
              </a:solidFill>
            </a:endParaRPr>
          </a:p>
          <a:p>
            <a:pPr indent="0" lvl="0" marL="0" rtl="0" algn="l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DEFF9A"/>
                </a:solidFill>
              </a:rPr>
              <a:t>    addi $t1, $zero, 0   </a:t>
            </a:r>
            <a:endParaRPr sz="1200">
              <a:solidFill>
                <a:srgbClr val="DEFF9A"/>
              </a:solidFill>
            </a:endParaRPr>
          </a:p>
          <a:p>
            <a:pPr indent="0" lvl="0" marL="0" rtl="0" algn="l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DEFF9A"/>
              </a:solidFill>
            </a:endParaRPr>
          </a:p>
          <a:p>
            <a:pPr indent="0" lvl="0" marL="0" rtl="0" algn="l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DEFF9A"/>
                </a:solidFill>
              </a:rPr>
              <a:t>bucle_interno:</a:t>
            </a:r>
            <a:endParaRPr sz="1200">
              <a:solidFill>
                <a:srgbClr val="DEFF9A"/>
              </a:solidFill>
            </a:endParaRPr>
          </a:p>
          <a:p>
            <a:pPr indent="0" lvl="0" marL="0" rtl="0" algn="l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DEFF9A"/>
                </a:solidFill>
              </a:rPr>
              <a:t>    slt $at, $t1, $t2    </a:t>
            </a:r>
            <a:endParaRPr sz="1200">
              <a:solidFill>
                <a:srgbClr val="DEFF9A"/>
              </a:solidFill>
            </a:endParaRPr>
          </a:p>
          <a:p>
            <a:pPr indent="0" lvl="0" marL="0" rtl="0" algn="l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DEFF9A"/>
                </a:solidFill>
              </a:rPr>
              <a:t>    beq $at, $zero, avance_externo </a:t>
            </a:r>
            <a:endParaRPr sz="1200">
              <a:solidFill>
                <a:srgbClr val="DEFF9A"/>
              </a:solidFill>
            </a:endParaRPr>
          </a:p>
          <a:p>
            <a:pPr indent="0" lvl="0" marL="0" rtl="0" algn="l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DEFF9A"/>
              </a:solidFill>
            </a:endParaRPr>
          </a:p>
          <a:p>
            <a:pPr indent="0" lvl="0" marL="0" rtl="0" algn="l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DEFF9A"/>
                </a:solidFill>
              </a:rPr>
              <a:t>    add $t3, $t1, $t1    </a:t>
            </a:r>
            <a:endParaRPr sz="1200">
              <a:solidFill>
                <a:srgbClr val="DEFF9A"/>
              </a:solidFill>
            </a:endParaRPr>
          </a:p>
          <a:p>
            <a:pPr indent="0" lvl="0" marL="0" rtl="0" algn="l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DEFF9A"/>
                </a:solidFill>
              </a:rPr>
              <a:t>    add $t3, $t3, $t3    </a:t>
            </a:r>
            <a:endParaRPr sz="1200">
              <a:solidFill>
                <a:srgbClr val="DEFF9A"/>
              </a:solidFill>
            </a:endParaRPr>
          </a:p>
          <a:p>
            <a:pPr indent="0" lvl="0" marL="0" rtl="0" algn="l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DEFF9A"/>
                </a:solidFill>
              </a:rPr>
              <a:t>    add $t4, $s0, $t3    </a:t>
            </a:r>
            <a:endParaRPr sz="1200">
              <a:solidFill>
                <a:srgbClr val="DEFF9A"/>
              </a:solidFill>
            </a:endParaRPr>
          </a:p>
          <a:p>
            <a:pPr indent="0" lvl="0" marL="0" rtl="0" algn="l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DEFF9A"/>
              </a:solidFill>
            </a:endParaRPr>
          </a:p>
          <a:p>
            <a:pPr indent="0" lvl="0" marL="0" rtl="0" algn="l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DEFF9A"/>
                </a:solidFill>
              </a:rPr>
              <a:t>   </a:t>
            </a:r>
            <a:endParaRPr sz="1200">
              <a:solidFill>
                <a:srgbClr val="DEFF9A"/>
              </a:solidFill>
            </a:endParaRPr>
          </a:p>
        </p:txBody>
      </p:sp>
      <p:sp>
        <p:nvSpPr>
          <p:cNvPr id="128" name="Google Shape;128;p16"/>
          <p:cNvSpPr txBox="1"/>
          <p:nvPr/>
        </p:nvSpPr>
        <p:spPr>
          <a:xfrm>
            <a:off x="8994400" y="2273875"/>
            <a:ext cx="3000000" cy="38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DEFF9A"/>
                </a:solidFill>
              </a:rPr>
              <a:t> lw $t5, 0($t4)       </a:t>
            </a:r>
            <a:endParaRPr sz="1200">
              <a:solidFill>
                <a:srgbClr val="DEFF9A"/>
              </a:solidFill>
            </a:endParaRPr>
          </a:p>
          <a:p>
            <a:pPr indent="0" lvl="0" marL="0" rtl="0" algn="l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DEFF9A"/>
                </a:solidFill>
              </a:rPr>
              <a:t>    lw $t6, 4($t4)       </a:t>
            </a:r>
            <a:endParaRPr sz="1200">
              <a:solidFill>
                <a:srgbClr val="DEFF9A"/>
              </a:solidFill>
            </a:endParaRPr>
          </a:p>
          <a:p>
            <a:pPr indent="0" lvl="0" marL="0" rtl="0" algn="l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DEFF9A"/>
              </a:solidFill>
            </a:endParaRPr>
          </a:p>
          <a:p>
            <a:pPr indent="0" lvl="0" marL="0" rtl="0" algn="l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DEFF9A"/>
                </a:solidFill>
              </a:rPr>
              <a:t>    slt $at, $t6, $t5    </a:t>
            </a:r>
            <a:endParaRPr sz="1200">
              <a:solidFill>
                <a:srgbClr val="DEFF9A"/>
              </a:solidFill>
            </a:endParaRPr>
          </a:p>
          <a:p>
            <a:pPr indent="0" lvl="0" marL="0" rtl="0" algn="l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DEFF9A"/>
                </a:solidFill>
              </a:rPr>
              <a:t>    beq $at, $zero, no_intercambiar </a:t>
            </a:r>
            <a:endParaRPr sz="1200">
              <a:solidFill>
                <a:srgbClr val="DEFF9A"/>
              </a:solidFill>
            </a:endParaRPr>
          </a:p>
          <a:p>
            <a:pPr indent="0" lvl="0" marL="0" rtl="0" algn="l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DEFF9A"/>
              </a:solidFill>
            </a:endParaRPr>
          </a:p>
          <a:p>
            <a:pPr indent="0" lvl="0" marL="0" rtl="0" algn="l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DEFF9A"/>
                </a:solidFill>
              </a:rPr>
              <a:t>    sw $t6, 0($t4)       </a:t>
            </a:r>
            <a:endParaRPr sz="1200">
              <a:solidFill>
                <a:srgbClr val="DEFF9A"/>
              </a:solidFill>
            </a:endParaRPr>
          </a:p>
          <a:p>
            <a:pPr indent="0" lvl="0" marL="0" rtl="0" algn="l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DEFF9A"/>
                </a:solidFill>
              </a:rPr>
              <a:t>    sw $t5, 4($t4)       </a:t>
            </a:r>
            <a:endParaRPr sz="1200">
              <a:solidFill>
                <a:srgbClr val="DEFF9A"/>
              </a:solidFill>
            </a:endParaRPr>
          </a:p>
          <a:p>
            <a:pPr indent="0" lvl="0" marL="0" rtl="0" algn="l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DEFF9A"/>
              </a:solidFill>
            </a:endParaRPr>
          </a:p>
          <a:p>
            <a:pPr indent="0" lvl="0" marL="0" rtl="0" algn="l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DEFF9A"/>
                </a:solidFill>
              </a:rPr>
              <a:t>no_intercambiar:</a:t>
            </a:r>
            <a:endParaRPr sz="1200">
              <a:solidFill>
                <a:srgbClr val="DEFF9A"/>
              </a:solidFill>
            </a:endParaRPr>
          </a:p>
          <a:p>
            <a:pPr indent="0" lvl="0" marL="0" rtl="0" algn="l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DEFF9A"/>
                </a:solidFill>
              </a:rPr>
              <a:t>    addi $t1, $t1, 1     </a:t>
            </a:r>
            <a:endParaRPr sz="1200">
              <a:solidFill>
                <a:srgbClr val="DEFF9A"/>
              </a:solidFill>
            </a:endParaRPr>
          </a:p>
          <a:p>
            <a:pPr indent="0" lvl="0" marL="0" rtl="0" algn="l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DEFF9A"/>
                </a:solidFill>
              </a:rPr>
              <a:t>    j bucle_interno</a:t>
            </a:r>
            <a:endParaRPr sz="1200">
              <a:solidFill>
                <a:srgbClr val="DEFF9A"/>
              </a:solidFill>
            </a:endParaRPr>
          </a:p>
          <a:p>
            <a:pPr indent="0" lvl="0" marL="0" rtl="0" algn="l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DEFF9A"/>
              </a:solidFill>
            </a:endParaRPr>
          </a:p>
          <a:p>
            <a:pPr indent="0" lvl="0" marL="0" rtl="0" algn="l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DEFF9A"/>
                </a:solidFill>
              </a:rPr>
              <a:t>avance_externo:</a:t>
            </a:r>
            <a:endParaRPr sz="1200">
              <a:solidFill>
                <a:srgbClr val="DEFF9A"/>
              </a:solidFill>
            </a:endParaRPr>
          </a:p>
          <a:p>
            <a:pPr indent="0" lvl="0" marL="0" rtl="0" algn="l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DEFF9A"/>
                </a:solidFill>
              </a:rPr>
              <a:t>    addi $t0, $t0, 1     </a:t>
            </a:r>
            <a:endParaRPr sz="1200">
              <a:solidFill>
                <a:srgbClr val="DEFF9A"/>
              </a:solidFill>
            </a:endParaRPr>
          </a:p>
          <a:p>
            <a:pPr indent="0" lvl="0" marL="0" rtl="0" algn="l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DEFF9A"/>
                </a:solidFill>
              </a:rPr>
              <a:t>    j bucle_externo</a:t>
            </a:r>
            <a:endParaRPr sz="1200">
              <a:solidFill>
                <a:srgbClr val="DEFF9A"/>
              </a:solidFill>
            </a:endParaRPr>
          </a:p>
          <a:p>
            <a:pPr indent="0" lvl="0" marL="0" rtl="0" algn="l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DEFF9A"/>
              </a:solidFill>
            </a:endParaRPr>
          </a:p>
          <a:p>
            <a:pPr indent="0" lvl="0" marL="0" rtl="0" algn="l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DEFF9A"/>
                </a:solidFill>
              </a:rPr>
              <a:t>fin_sort:</a:t>
            </a:r>
            <a:endParaRPr sz="1200">
              <a:solidFill>
                <a:srgbClr val="DEFF9A"/>
              </a:solidFill>
            </a:endParaRPr>
          </a:p>
          <a:p>
            <a:pPr indent="0" lvl="0" marL="0" rtl="0" algn="l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DEFF9A"/>
                </a:solidFill>
              </a:rPr>
              <a:t>bucle_final:</a:t>
            </a:r>
            <a:endParaRPr sz="1200">
              <a:solidFill>
                <a:srgbClr val="DEFF9A"/>
              </a:solidFill>
            </a:endParaRPr>
          </a:p>
          <a:p>
            <a:pPr indent="0" lvl="0" marL="0" rtl="0" algn="l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DEFF9A"/>
                </a:solidFill>
              </a:rPr>
              <a:t>    j bucle_final</a:t>
            </a:r>
            <a:endParaRPr sz="1200">
              <a:solidFill>
                <a:srgbClr val="DEFF9A"/>
              </a:solidFill>
            </a:endParaRPr>
          </a:p>
          <a:p>
            <a:pPr indent="0" lvl="0" marL="0" rtl="0" algn="l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DEFF9A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3" name="Google Shape;13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7"/>
          <p:cNvSpPr txBox="1"/>
          <p:nvPr/>
        </p:nvSpPr>
        <p:spPr>
          <a:xfrm>
            <a:off x="571500" y="1662112"/>
            <a:ext cx="52006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Traducción a </a:t>
            </a:r>
            <a:r>
              <a:rPr b="1" i="0" lang="en-US" sz="37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Binario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571500" y="2624137"/>
            <a:ext cx="49530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El procesador no lee mnemónicos como 'LW' o 'ADD'. Cada instrucción se traduce a una cadena de 32 bits.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571500" y="3538537"/>
            <a:ext cx="49530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Por ejemplo, una instrucción de suma (R-type) se descompone en Opcode, rs, rt, rd, shamt y funct.</a:t>
            </a:r>
            <a:endParaRPr/>
          </a:p>
        </p:txBody>
      </p:sp>
      <p:pic>
        <p:nvPicPr>
          <p:cNvPr descr="image.png" id="137" name="Google Shape;13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452937"/>
            <a:ext cx="4953000" cy="552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3" name="Google Shape;14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8"/>
          <p:cNvSpPr txBox="1"/>
          <p:nvPr/>
        </p:nvSpPr>
        <p:spPr>
          <a:xfrm>
            <a:off x="238125" y="2486025"/>
            <a:ext cx="11715750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Arquitectura del </a:t>
            </a:r>
            <a:r>
              <a:rPr b="1" i="0" lang="en-US" sz="52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Datapath</a:t>
            </a:r>
            <a:endParaRPr/>
          </a:p>
        </p:txBody>
      </p:sp>
      <p:sp>
        <p:nvSpPr>
          <p:cNvPr id="145" name="Google Shape;145;p18"/>
          <p:cNvSpPr/>
          <p:nvPr/>
        </p:nvSpPr>
        <p:spPr>
          <a:xfrm>
            <a:off x="5619750" y="3581400"/>
            <a:ext cx="952500" cy="476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8"/>
          <p:cNvSpPr txBox="1"/>
          <p:nvPr/>
        </p:nvSpPr>
        <p:spPr>
          <a:xfrm>
            <a:off x="476250" y="3914775"/>
            <a:ext cx="11239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El camino físico que siguen los datos a través del procesador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1" name="Google Shape;15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814512"/>
            <a:ext cx="54292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9"/>
          <p:cNvSpPr txBox="1"/>
          <p:nvPr/>
        </p:nvSpPr>
        <p:spPr>
          <a:xfrm>
            <a:off x="476250" y="2833687"/>
            <a:ext cx="54292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El Datapath de ciclo único ejecuta una instrucción por cada pulso de reloj. Para el Bubble Sort, gestiona:</a:t>
            </a:r>
            <a:endParaRPr/>
          </a:p>
        </p:txBody>
      </p:sp>
      <p:pic>
        <p:nvPicPr>
          <p:cNvPr descr="image.png" id="154" name="Google Shape;154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96025" y="1824037"/>
            <a:ext cx="54102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9"/>
          <p:cNvSpPr txBox="1"/>
          <p:nvPr/>
        </p:nvSpPr>
        <p:spPr>
          <a:xfrm>
            <a:off x="857250" y="3557587"/>
            <a:ext cx="50482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ALU: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Realiza la comparación del SLT.</a:t>
            </a:r>
            <a:endParaRPr/>
          </a:p>
        </p:txBody>
      </p:sp>
      <p:sp>
        <p:nvSpPr>
          <p:cNvPr id="156" name="Google Shape;156;p19"/>
          <p:cNvSpPr txBox="1"/>
          <p:nvPr/>
        </p:nvSpPr>
        <p:spPr>
          <a:xfrm>
            <a:off x="857250" y="3967162"/>
            <a:ext cx="50482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RegFile: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Almacena valores temporales de la lista.</a:t>
            </a:r>
            <a:endParaRPr/>
          </a:p>
        </p:txBody>
      </p:sp>
      <p:sp>
        <p:nvSpPr>
          <p:cNvPr id="157" name="Google Shape;157;p19"/>
          <p:cNvSpPr txBox="1"/>
          <p:nvPr/>
        </p:nvSpPr>
        <p:spPr>
          <a:xfrm>
            <a:off x="857250" y="4376737"/>
            <a:ext cx="50482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Data Memory: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Donde reside el arreglo original.</a:t>
            </a:r>
            <a:endParaRPr/>
          </a:p>
        </p:txBody>
      </p:sp>
      <p:pic>
        <p:nvPicPr>
          <p:cNvPr descr="image.png" id="158" name="Google Shape;158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6250" y="360045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6250" y="401002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6250" y="4419600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9"/>
          <p:cNvSpPr txBox="1"/>
          <p:nvPr/>
        </p:nvSpPr>
        <p:spPr>
          <a:xfrm>
            <a:off x="476250" y="476250"/>
            <a:ext cx="117157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Diagrama del </a:t>
            </a:r>
            <a:r>
              <a:rPr b="1" i="0" lang="en-US" sz="37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Procesador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6" name="Google Shape;16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2309812"/>
            <a:ext cx="3619500" cy="2819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86250" y="2309812"/>
            <a:ext cx="3619500" cy="2819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96250" y="2309812"/>
            <a:ext cx="3619500" cy="2819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4375" y="2547937"/>
            <a:ext cx="3143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0"/>
          <p:cNvSpPr txBox="1"/>
          <p:nvPr/>
        </p:nvSpPr>
        <p:spPr>
          <a:xfrm>
            <a:off x="714375" y="3024187"/>
            <a:ext cx="330041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Unidad Aritmética</a:t>
            </a:r>
            <a:endParaRPr/>
          </a:p>
        </p:txBody>
      </p:sp>
      <p:sp>
        <p:nvSpPr>
          <p:cNvPr id="172" name="Google Shape;172;p20"/>
          <p:cNvSpPr txBox="1"/>
          <p:nvPr/>
        </p:nvSpPr>
        <p:spPr>
          <a:xfrm>
            <a:off x="714375" y="3633787"/>
            <a:ext cx="314325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La ALU es responsable de restar los valores para determinar si uno es menor que otro (lógica de swap).</a:t>
            </a:r>
            <a:endParaRPr/>
          </a:p>
        </p:txBody>
      </p:sp>
      <p:pic>
        <p:nvPicPr>
          <p:cNvPr descr="image.png" id="173" name="Google Shape;173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24375" y="2547937"/>
            <a:ext cx="3143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0"/>
          <p:cNvSpPr txBox="1"/>
          <p:nvPr/>
        </p:nvSpPr>
        <p:spPr>
          <a:xfrm>
            <a:off x="4524375" y="3024187"/>
            <a:ext cx="330041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Unidad de Control</a:t>
            </a:r>
            <a:endParaRPr/>
          </a:p>
        </p:txBody>
      </p:sp>
      <p:sp>
        <p:nvSpPr>
          <p:cNvPr id="175" name="Google Shape;175;p20"/>
          <p:cNvSpPr txBox="1"/>
          <p:nvPr/>
        </p:nvSpPr>
        <p:spPr>
          <a:xfrm>
            <a:off x="4524375" y="3633787"/>
            <a:ext cx="3143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Genera las señales (RegWrite, MemRead, ALUSrc) que activan los módulos necesarios para cada instrucción.</a:t>
            </a:r>
            <a:endParaRPr/>
          </a:p>
        </p:txBody>
      </p:sp>
      <p:pic>
        <p:nvPicPr>
          <p:cNvPr descr="image.png" id="176" name="Google Shape;176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334375" y="2547937"/>
            <a:ext cx="3143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0"/>
          <p:cNvSpPr txBox="1"/>
          <p:nvPr/>
        </p:nvSpPr>
        <p:spPr>
          <a:xfrm>
            <a:off x="8334375" y="3024187"/>
            <a:ext cx="330041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Puntero PC</a:t>
            </a:r>
            <a:endParaRPr/>
          </a:p>
        </p:txBody>
      </p:sp>
      <p:sp>
        <p:nvSpPr>
          <p:cNvPr id="178" name="Google Shape;178;p20"/>
          <p:cNvSpPr txBox="1"/>
          <p:nvPr/>
        </p:nvSpPr>
        <p:spPr>
          <a:xfrm>
            <a:off x="8334375" y="3633787"/>
            <a:ext cx="314325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El Program Counter dirige el flujo, permitiendo que el algoritmo regrese al inicio del bucle (jump/branch).</a:t>
            </a:r>
            <a:endParaRPr/>
          </a:p>
        </p:txBody>
      </p:sp>
      <p:sp>
        <p:nvSpPr>
          <p:cNvPr id="179" name="Google Shape;179;p20"/>
          <p:cNvSpPr txBox="1"/>
          <p:nvPr/>
        </p:nvSpPr>
        <p:spPr>
          <a:xfrm>
            <a:off x="476250" y="476250"/>
            <a:ext cx="117157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Componentes del </a:t>
            </a:r>
            <a:r>
              <a:rPr b="1" i="0" lang="en-US" sz="37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Hardware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4" name="Google Shape;18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5" name="Google Shape;185;p21"/>
          <p:cNvGraphicFramePr/>
          <p:nvPr/>
        </p:nvGraphicFramePr>
        <p:xfrm>
          <a:off x="476250" y="26860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{F7DD2D60-CFFE-4035-B687-9B70836050AC}</a:tableStyleId>
              </a:tblPr>
              <a:tblGrid>
                <a:gridCol w="1416100"/>
                <a:gridCol w="2280650"/>
                <a:gridCol w="3905400"/>
                <a:gridCol w="3637350"/>
              </a:tblGrid>
              <a:tr h="56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Tipo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Ejemplo ASM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Uso en Sort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Campos Críticos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</a:tr>
              <a:tr h="56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R-Type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ADD, SLT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Comparación y aritmética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rs, rt, rd, funct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I-Type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LW, SW, BEQ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Carga, Almacena, Salto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rs, rt, immediate (offset)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J-Type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J (Jump)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Saltos largos de bucle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address (26 bits)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6" name="Google Shape;186;p21"/>
          <p:cNvSpPr/>
          <p:nvPr/>
        </p:nvSpPr>
        <p:spPr>
          <a:xfrm>
            <a:off x="476250" y="3228975"/>
            <a:ext cx="1416099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1"/>
          <p:cNvSpPr/>
          <p:nvPr/>
        </p:nvSpPr>
        <p:spPr>
          <a:xfrm>
            <a:off x="1892349" y="3228975"/>
            <a:ext cx="2280642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1"/>
          <p:cNvSpPr/>
          <p:nvPr/>
        </p:nvSpPr>
        <p:spPr>
          <a:xfrm>
            <a:off x="4172991" y="3228975"/>
            <a:ext cx="3905398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1"/>
          <p:cNvSpPr/>
          <p:nvPr/>
        </p:nvSpPr>
        <p:spPr>
          <a:xfrm>
            <a:off x="8078390" y="3228975"/>
            <a:ext cx="3637359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1"/>
          <p:cNvSpPr/>
          <p:nvPr/>
        </p:nvSpPr>
        <p:spPr>
          <a:xfrm>
            <a:off x="476250" y="3805237"/>
            <a:ext cx="141609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1"/>
          <p:cNvSpPr/>
          <p:nvPr/>
        </p:nvSpPr>
        <p:spPr>
          <a:xfrm>
            <a:off x="1892349" y="3805237"/>
            <a:ext cx="228064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1"/>
          <p:cNvSpPr/>
          <p:nvPr/>
        </p:nvSpPr>
        <p:spPr>
          <a:xfrm>
            <a:off x="4172991" y="3805237"/>
            <a:ext cx="390539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1"/>
          <p:cNvSpPr/>
          <p:nvPr/>
        </p:nvSpPr>
        <p:spPr>
          <a:xfrm>
            <a:off x="8078390" y="3805237"/>
            <a:ext cx="363735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1"/>
          <p:cNvSpPr/>
          <p:nvPr/>
        </p:nvSpPr>
        <p:spPr>
          <a:xfrm>
            <a:off x="476250" y="4367212"/>
            <a:ext cx="141609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1"/>
          <p:cNvSpPr/>
          <p:nvPr/>
        </p:nvSpPr>
        <p:spPr>
          <a:xfrm>
            <a:off x="1892349" y="4367212"/>
            <a:ext cx="228064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1"/>
          <p:cNvSpPr/>
          <p:nvPr/>
        </p:nvSpPr>
        <p:spPr>
          <a:xfrm>
            <a:off x="4172991" y="4367212"/>
            <a:ext cx="390539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1"/>
          <p:cNvSpPr/>
          <p:nvPr/>
        </p:nvSpPr>
        <p:spPr>
          <a:xfrm>
            <a:off x="8078390" y="4367212"/>
            <a:ext cx="363735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1"/>
          <p:cNvSpPr/>
          <p:nvPr/>
        </p:nvSpPr>
        <p:spPr>
          <a:xfrm>
            <a:off x="476250" y="4929187"/>
            <a:ext cx="141609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1"/>
          <p:cNvSpPr/>
          <p:nvPr/>
        </p:nvSpPr>
        <p:spPr>
          <a:xfrm>
            <a:off x="1892349" y="4929187"/>
            <a:ext cx="228064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1"/>
          <p:cNvSpPr/>
          <p:nvPr/>
        </p:nvSpPr>
        <p:spPr>
          <a:xfrm>
            <a:off x="4172991" y="4929187"/>
            <a:ext cx="390539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1"/>
          <p:cNvSpPr/>
          <p:nvPr/>
        </p:nvSpPr>
        <p:spPr>
          <a:xfrm>
            <a:off x="8078390" y="4929187"/>
            <a:ext cx="363735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1"/>
          <p:cNvSpPr txBox="1"/>
          <p:nvPr/>
        </p:nvSpPr>
        <p:spPr>
          <a:xfrm>
            <a:off x="476250" y="476250"/>
            <a:ext cx="117157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Formatos de </a:t>
            </a:r>
            <a:r>
              <a:rPr b="1" i="0" lang="en-US" sz="37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Instrucción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7" name="Google Shape;20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1057275"/>
            <a:ext cx="11239500" cy="5324475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2"/>
          <p:cNvSpPr txBox="1"/>
          <p:nvPr/>
        </p:nvSpPr>
        <p:spPr>
          <a:xfrm>
            <a:off x="476250" y="4214812"/>
            <a:ext cx="11239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El Bubble Sort en un datapath de ciclo único requiere N² ciclos en el peor de los casos, lo que impacta directamente el tiempo de ejecución (CPU Time).</a:t>
            </a:r>
            <a:endParaRPr/>
          </a:p>
        </p:txBody>
      </p:sp>
      <p:sp>
        <p:nvSpPr>
          <p:cNvPr id="210" name="Google Shape;210;p22"/>
          <p:cNvSpPr txBox="1"/>
          <p:nvPr/>
        </p:nvSpPr>
        <p:spPr>
          <a:xfrm>
            <a:off x="476250" y="476250"/>
            <a:ext cx="117157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Eficiencia del </a:t>
            </a:r>
            <a:r>
              <a:rPr b="1" i="0" lang="en-US" sz="37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Hardware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5" name="Google Shape;21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3"/>
          <p:cNvSpPr txBox="1"/>
          <p:nvPr/>
        </p:nvSpPr>
        <p:spPr>
          <a:xfrm>
            <a:off x="571500" y="1343025"/>
            <a:ext cx="5200650" cy="1162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Simulación de </a:t>
            </a:r>
            <a:r>
              <a:rPr b="1" i="0" lang="en-US" sz="37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Memoria</a:t>
            </a:r>
            <a:endParaRPr/>
          </a:p>
        </p:txBody>
      </p:sp>
      <p:sp>
        <p:nvSpPr>
          <p:cNvPr id="217" name="Google Shape;217;p23"/>
          <p:cNvSpPr txBox="1"/>
          <p:nvPr/>
        </p:nvSpPr>
        <p:spPr>
          <a:xfrm>
            <a:off x="571500" y="2695575"/>
            <a:ext cx="4953000" cy="8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Al ejecutar el binario en herramientas como ModelSim, podemos observar el "Resultado Final de Memoria". (Siguiente diapositiva)</a:t>
            </a: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1500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18" name="Google Shape;218;p23"/>
          <p:cNvSpPr txBox="1"/>
          <p:nvPr/>
        </p:nvSpPr>
        <p:spPr>
          <a:xfrm>
            <a:off x="571500" y="3751125"/>
            <a:ext cx="4953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La imagen a la derecha muestra una </a:t>
            </a: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simulación de nuestro programa ejecutando el algoritmo BubbleSort.</a:t>
            </a:r>
            <a:endParaRPr sz="1500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3"/>
          <p:cNvSpPr txBox="1"/>
          <p:nvPr/>
        </p:nvSpPr>
        <p:spPr>
          <a:xfrm>
            <a:off x="571500" y="4791075"/>
            <a:ext cx="49530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Este es el objetivo final: ver los datos pasar de un estado aleatorio a una secuencia ascendente (1 a 9).</a:t>
            </a:r>
            <a:endParaRPr/>
          </a:p>
        </p:txBody>
      </p:sp>
      <p:pic>
        <p:nvPicPr>
          <p:cNvPr descr="image.png" id="220" name="Google Shape;22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46300" y="-62125"/>
            <a:ext cx="6096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5" name="Google Shape;22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43085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4"/>
          <p:cNvSpPr txBox="1"/>
          <p:nvPr/>
        </p:nvSpPr>
        <p:spPr>
          <a:xfrm>
            <a:off x="238125" y="317750"/>
            <a:ext cx="117159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Ordenamiento de datos</a:t>
            </a:r>
            <a:endParaRPr b="1" sz="6000">
              <a:solidFill>
                <a:srgbClr val="F5F5F5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0">
              <a:solidFill>
                <a:srgbClr val="F5F5F5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227" name="Google Shape;227;p24" title="f9a2d92d-b3ab-436c-ac58-ad279e5061c6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39378" y="1334200"/>
            <a:ext cx="5077750" cy="4103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7225" y="1634249"/>
            <a:ext cx="5310325" cy="3803425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4"/>
          <p:cNvSpPr txBox="1"/>
          <p:nvPr/>
        </p:nvSpPr>
        <p:spPr>
          <a:xfrm>
            <a:off x="1403925" y="5750050"/>
            <a:ext cx="9744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Instrucción						                 	Datos ordenados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5"/>
          <p:cNvSpPr txBox="1"/>
          <p:nvPr/>
        </p:nvSpPr>
        <p:spPr>
          <a:xfrm>
            <a:off x="5207550" y="3140400"/>
            <a:ext cx="17769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5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Gracias!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